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8" r:id="rId4"/>
    <p:sldId id="260" r:id="rId5"/>
    <p:sldId id="261" r:id="rId6"/>
    <p:sldId id="270" r:id="rId7"/>
    <p:sldId id="271" r:id="rId8"/>
    <p:sldId id="282" r:id="rId9"/>
    <p:sldId id="262" r:id="rId10"/>
    <p:sldId id="265" r:id="rId11"/>
    <p:sldId id="278" r:id="rId12"/>
    <p:sldId id="279" r:id="rId13"/>
    <p:sldId id="275" r:id="rId14"/>
    <p:sldId id="283" r:id="rId15"/>
    <p:sldId id="280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60"/>
  </p:normalViewPr>
  <p:slideViewPr>
    <p:cSldViewPr snapToGrid="0">
      <p:cViewPr>
        <p:scale>
          <a:sx n="75" d="100"/>
          <a:sy n="75" d="100"/>
        </p:scale>
        <p:origin x="989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902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981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624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871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11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478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506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05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112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936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061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8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02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002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559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618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641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652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63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159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87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191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705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210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662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59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756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8009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547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674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160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022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556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15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03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8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142447"/>
            <a:ext cx="8521044" cy="3251987"/>
            <a:chOff x="0" y="-95250"/>
            <a:chExt cx="17042088" cy="6503976"/>
          </a:xfrm>
        </p:grpSpPr>
        <p:sp>
          <p:nvSpPr>
            <p:cNvPr id="3" name="TextBox 3"/>
            <p:cNvSpPr txBox="1"/>
            <p:nvPr/>
          </p:nvSpPr>
          <p:spPr>
            <a:xfrm>
              <a:off x="0" y="1997261"/>
              <a:ext cx="17042088" cy="4411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8580"/>
                </a:lnSpc>
              </a:pPr>
              <a:r>
                <a:rPr lang="en-US" sz="6600">
                  <a:solidFill>
                    <a:srgbClr val="FEFFFD"/>
                  </a:solidFill>
                  <a:latin typeface="Public Sans Thin"/>
                  <a:ea typeface="Public Sans Thin"/>
                  <a:cs typeface="Public Sans Thin"/>
                  <a:sym typeface="Public Sans Thin"/>
                </a:rPr>
                <a:t>A Real-Time Embedded System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2920074" cy="1102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4293"/>
                </a:lnSpc>
                <a:spcBef>
                  <a:spcPct val="0"/>
                </a:spcBef>
              </a:pPr>
              <a:r>
                <a:rPr lang="en-US" sz="3066" b="1" dirty="0">
                  <a:solidFill>
                    <a:srgbClr val="FEFFF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SMARTSAUDA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61616" y="4824361"/>
            <a:ext cx="7268768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605"/>
              </a:lnSpc>
            </a:pPr>
            <a:r>
              <a:rPr lang="en-US" sz="1861" b="1">
                <a:solidFill>
                  <a:srgbClr val="FEFFF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Automated retail checkout</a:t>
            </a:r>
            <a:r>
              <a:rPr lang="en-US" sz="1861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 designed for </a:t>
            </a:r>
            <a:r>
              <a:rPr lang="en-US" sz="1861" b="1">
                <a:solidFill>
                  <a:srgbClr val="FEFFF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efficiency and simplicity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6836134A-987F-C018-A73F-AFB756F2C9F5}"/>
              </a:ext>
            </a:extLst>
          </p:cNvPr>
          <p:cNvSpPr/>
          <p:nvPr/>
        </p:nvSpPr>
        <p:spPr>
          <a:xfrm>
            <a:off x="11111347" y="228231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D64092C-A730-9844-23F0-422432AA11BB}"/>
              </a:ext>
            </a:extLst>
          </p:cNvPr>
          <p:cNvSpPr/>
          <p:nvPr/>
        </p:nvSpPr>
        <p:spPr>
          <a:xfrm>
            <a:off x="4397121" y="357627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71441593-C703-AE46-E27F-D88C9589E625}"/>
              </a:ext>
            </a:extLst>
          </p:cNvPr>
          <p:cNvSpPr/>
          <p:nvPr/>
        </p:nvSpPr>
        <p:spPr>
          <a:xfrm>
            <a:off x="8510005" y="385228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B41F276-EA27-E47E-3227-B0ACB2CD78DF}"/>
              </a:ext>
            </a:extLst>
          </p:cNvPr>
          <p:cNvSpPr/>
          <p:nvPr/>
        </p:nvSpPr>
        <p:spPr>
          <a:xfrm>
            <a:off x="186473" y="5650411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06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847" y="628650"/>
            <a:ext cx="23964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546"/>
              </a:lnSpc>
            </a:pPr>
            <a:r>
              <a:rPr lang="en-US" sz="2533" b="1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Prepared by:</a:t>
            </a:r>
          </a:p>
          <a:p>
            <a:pPr algn="ctr" defTabSz="609630">
              <a:lnSpc>
                <a:spcPts val="3546"/>
              </a:lnSpc>
              <a:spcBef>
                <a:spcPct val="0"/>
              </a:spcBef>
            </a:pPr>
            <a:endParaRPr lang="en-US" sz="2533" b="1" dirty="0">
              <a:solidFill>
                <a:srgbClr val="FFFFFF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02803" y="1359955"/>
            <a:ext cx="4612443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43" lvl="1" indent="-302271" defTabSz="609630">
              <a:lnSpc>
                <a:spcPts val="3920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M. Hammad Abdullah</a:t>
            </a:r>
          </a:p>
          <a:p>
            <a:pPr marL="604543" lvl="1" indent="-302271" defTabSz="609630">
              <a:lnSpc>
                <a:spcPts val="3920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Aiyan Sheryar</a:t>
            </a:r>
          </a:p>
          <a:p>
            <a:pPr marL="604543" lvl="1" indent="-302271" defTabSz="609630">
              <a:lnSpc>
                <a:spcPts val="3920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Shabia Sajjad </a:t>
            </a:r>
          </a:p>
          <a:p>
            <a:pPr marL="604543" lvl="1" indent="-302271" defTabSz="609630">
              <a:lnSpc>
                <a:spcPts val="3920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Waleed Nadeem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5603" y="4882917"/>
            <a:ext cx="5410371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751"/>
              </a:lnSpc>
            </a:pPr>
            <a:r>
              <a:rPr lang="en-US" sz="2679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Supervisor:</a:t>
            </a:r>
          </a:p>
          <a:p>
            <a:pPr marL="578508" lvl="1" indent="-289254" algn="ctr" defTabSz="609630">
              <a:lnSpc>
                <a:spcPts val="3751"/>
              </a:lnSpc>
              <a:buFont typeface="Arial"/>
              <a:buChar char="•"/>
            </a:pPr>
            <a:r>
              <a:rPr lang="en-US" sz="267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Mr. Syed Noman Ali Shah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57539" y="4882857"/>
            <a:ext cx="305020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564"/>
              </a:lnSpc>
              <a:spcBef>
                <a:spcPct val="0"/>
              </a:spcBef>
            </a:pPr>
            <a:r>
              <a:rPr lang="en-US" sz="2545" b="1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Co-Supervisor: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97609" y="5320701"/>
            <a:ext cx="383835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6973" lvl="1" indent="-273486" algn="ctr" defTabSz="609630">
              <a:lnSpc>
                <a:spcPts val="3546"/>
              </a:lnSpc>
              <a:buFont typeface="Arial"/>
              <a:buChar char="•"/>
            </a:pPr>
            <a:r>
              <a:rPr lang="en-US" sz="253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Mr. Asim Irshad</a:t>
            </a:r>
          </a:p>
        </p:txBody>
      </p:sp>
      <p:sp>
        <p:nvSpPr>
          <p:cNvPr id="7" name="Freeform 7"/>
          <p:cNvSpPr/>
          <p:nvPr/>
        </p:nvSpPr>
        <p:spPr>
          <a:xfrm>
            <a:off x="7165156" y="512901"/>
            <a:ext cx="4069757" cy="3633183"/>
          </a:xfrm>
          <a:custGeom>
            <a:avLst/>
            <a:gdLst/>
            <a:ahLst/>
            <a:cxnLst/>
            <a:rect l="l" t="t" r="r" b="b"/>
            <a:pathLst>
              <a:path w="6104635" h="5449775">
                <a:moveTo>
                  <a:pt x="0" y="0"/>
                </a:moveTo>
                <a:lnTo>
                  <a:pt x="6104636" y="0"/>
                </a:lnTo>
                <a:lnTo>
                  <a:pt x="6104636" y="5449774"/>
                </a:lnTo>
                <a:lnTo>
                  <a:pt x="0" y="544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46864" y="202216"/>
            <a:ext cx="11498272" cy="630891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960"/>
              </a:lnSpc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346864" y="357024"/>
            <a:ext cx="11498272" cy="6164272"/>
            <a:chOff x="0" y="0"/>
            <a:chExt cx="4542527" cy="2435268"/>
          </a:xfrm>
        </p:grpSpPr>
        <p:sp>
          <p:nvSpPr>
            <p:cNvPr id="12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022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864" y="357024"/>
            <a:ext cx="11498272" cy="6164272"/>
            <a:chOff x="0" y="0"/>
            <a:chExt cx="4542527" cy="243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49508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552066" y="659909"/>
            <a:ext cx="7621642" cy="2457446"/>
            <a:chOff x="-4622852" y="-1413503"/>
            <a:chExt cx="15243285" cy="5527903"/>
          </a:xfrm>
        </p:grpSpPr>
        <p:sp>
          <p:nvSpPr>
            <p:cNvPr id="11" name="TextBox 11"/>
            <p:cNvSpPr txBox="1"/>
            <p:nvPr/>
          </p:nvSpPr>
          <p:spPr>
            <a:xfrm>
              <a:off x="-4622852" y="-1413503"/>
              <a:ext cx="10620433" cy="1384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4800"/>
                </a:lnSpc>
              </a:pPr>
              <a:r>
                <a:rPr lang="en-US" sz="4000" b="1" dirty="0">
                  <a:solidFill>
                    <a:srgbClr val="F2F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Problem Statement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302933"/>
              <a:ext cx="10620433" cy="811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defTabSz="609630">
                <a:lnSpc>
                  <a:spcPts val="2987"/>
                </a:lnSpc>
                <a:buFont typeface="Arial" panose="020B0604020202020204" pitchFamily="34" charset="0"/>
                <a:buChar char="•"/>
              </a:pPr>
              <a:endParaRPr lang="en-US" sz="2133" dirty="0">
                <a:solidFill>
                  <a:srgbClr val="F2F2F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00040B84-928B-6F96-C1BE-5D0093DB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7551" y="2290127"/>
            <a:ext cx="762468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Manual billing in local stores → long queues, errors, lack of real-time bill visibility.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Existing tech (RFID / vision) is costly or impractical locally.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Need: low-cost, accurate, real-time billing for supermarkets.</a:t>
            </a:r>
          </a:p>
        </p:txBody>
      </p:sp>
    </p:spTree>
    <p:extLst>
      <p:ext uri="{BB962C8B-B14F-4D97-AF65-F5344CB8AC3E}">
        <p14:creationId xmlns:p14="http://schemas.microsoft.com/office/powerpoint/2010/main" val="2809591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925A7-DAAE-F3EB-AD98-EE406324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E2D939-925F-61DA-B3B2-3F6F807E97CE}"/>
              </a:ext>
            </a:extLst>
          </p:cNvPr>
          <p:cNvGrpSpPr/>
          <p:nvPr/>
        </p:nvGrpSpPr>
        <p:grpSpPr>
          <a:xfrm>
            <a:off x="346864" y="357024"/>
            <a:ext cx="11498272" cy="6164272"/>
            <a:chOff x="0" y="0"/>
            <a:chExt cx="4542527" cy="243526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E1405E-05E0-464A-0BF4-025B3FD9051D}"/>
                </a:ext>
              </a:extLst>
            </p:cNvPr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51EA3B-9809-14FB-D783-02046FA4328A}"/>
                </a:ext>
              </a:extLst>
            </p:cNvPr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82CA5B3-0A40-1405-E672-CE74183D2093}"/>
              </a:ext>
            </a:extLst>
          </p:cNvPr>
          <p:cNvSpPr/>
          <p:nvPr/>
        </p:nvSpPr>
        <p:spPr>
          <a:xfrm>
            <a:off x="-1079170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758DC9E-1606-FA89-8057-51D99966FB06}"/>
              </a:ext>
            </a:extLst>
          </p:cNvPr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485B906-1FF3-6ADD-7157-2A06B3F73179}"/>
              </a:ext>
            </a:extLst>
          </p:cNvPr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4F8D1CF-2F03-B8AA-8AA1-8B1953736EB1}"/>
              </a:ext>
            </a:extLst>
          </p:cNvPr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01694FC-4BE0-5CE5-9CCC-F445C07CBE37}"/>
              </a:ext>
            </a:extLst>
          </p:cNvPr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BD5B46D-35CF-A68D-5392-9063B8B07BAD}"/>
              </a:ext>
            </a:extLst>
          </p:cNvPr>
          <p:cNvGrpSpPr/>
          <p:nvPr/>
        </p:nvGrpSpPr>
        <p:grpSpPr>
          <a:xfrm>
            <a:off x="3777747" y="671722"/>
            <a:ext cx="7395961" cy="2445633"/>
            <a:chOff x="-4171490" y="-1386931"/>
            <a:chExt cx="14791923" cy="5501331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2E5F27E-3942-B2C0-29BA-2AB13C51C680}"/>
                </a:ext>
              </a:extLst>
            </p:cNvPr>
            <p:cNvSpPr txBox="1"/>
            <p:nvPr/>
          </p:nvSpPr>
          <p:spPr>
            <a:xfrm>
              <a:off x="-4171490" y="-1386931"/>
              <a:ext cx="10620433" cy="1384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4800"/>
                </a:lnSpc>
              </a:pPr>
              <a:r>
                <a:rPr lang="en-US" sz="4000" b="1" dirty="0">
                  <a:solidFill>
                    <a:srgbClr val="F2F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Proposed Solution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C7332-9A03-7FB9-EA7C-178F647F0EED}"/>
                </a:ext>
              </a:extLst>
            </p:cNvPr>
            <p:cNvSpPr txBox="1"/>
            <p:nvPr/>
          </p:nvSpPr>
          <p:spPr>
            <a:xfrm>
              <a:off x="0" y="3302933"/>
              <a:ext cx="10620433" cy="811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defTabSz="609630">
                <a:lnSpc>
                  <a:spcPts val="2987"/>
                </a:lnSpc>
                <a:buFont typeface="Arial" panose="020B0604020202020204" pitchFamily="34" charset="0"/>
                <a:buChar char="•"/>
              </a:pPr>
              <a:endParaRPr lang="en-US" sz="2133" dirty="0">
                <a:solidFill>
                  <a:srgbClr val="F2F2F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47B31E4D-5E8E-5C29-ACF7-09449F71F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494" y="2551221"/>
            <a:ext cx="826750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SmartSauda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: Arduino-based smart cart with NFC, load-cell verification and QR pairing.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Real-time mobile app shows bill; central DB for product &amp; transaction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Low cost, low power, offline sync capability.</a:t>
            </a:r>
          </a:p>
        </p:txBody>
      </p:sp>
    </p:spTree>
    <p:extLst>
      <p:ext uri="{BB962C8B-B14F-4D97-AF65-F5344CB8AC3E}">
        <p14:creationId xmlns:p14="http://schemas.microsoft.com/office/powerpoint/2010/main" val="3909534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E7B68-436D-45EE-130E-FA52ED78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BC0E0A-EA15-0A67-6D81-4B50DF1CEE5E}"/>
              </a:ext>
            </a:extLst>
          </p:cNvPr>
          <p:cNvGrpSpPr/>
          <p:nvPr/>
        </p:nvGrpSpPr>
        <p:grpSpPr>
          <a:xfrm>
            <a:off x="346864" y="182693"/>
            <a:ext cx="11498272" cy="6164272"/>
            <a:chOff x="0" y="0"/>
            <a:chExt cx="4542527" cy="243526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81655D-C4CB-A1E1-A894-F67DC285E9B7}"/>
                </a:ext>
              </a:extLst>
            </p:cNvPr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AC1FA6-2539-E141-D269-01657C5CFBCA}"/>
                </a:ext>
              </a:extLst>
            </p:cNvPr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7398075-097D-F0B0-922E-62EABBD693ED}"/>
              </a:ext>
            </a:extLst>
          </p:cNvPr>
          <p:cNvSpPr/>
          <p:nvPr/>
        </p:nvSpPr>
        <p:spPr>
          <a:xfrm>
            <a:off x="-824426" y="1126434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bg1"/>
              </a:solidFill>
              <a:latin typeface="Public Sans" panose="020B0604020202020204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6ABEF46-C9B6-CFBB-8360-067CE16E6929}"/>
              </a:ext>
            </a:extLst>
          </p:cNvPr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77FFB3A-2F4F-CC43-2D36-7C6C8FB42C9B}"/>
              </a:ext>
            </a:extLst>
          </p:cNvPr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1D39BD7-4BFB-6FF8-48DC-881F31CAF6F3}"/>
              </a:ext>
            </a:extLst>
          </p:cNvPr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D92DE8F-EC91-3D04-0334-2C675BF4F447}"/>
              </a:ext>
            </a:extLst>
          </p:cNvPr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36ECB8F-AF3C-6FD4-AA0D-81ED774DF94A}"/>
              </a:ext>
            </a:extLst>
          </p:cNvPr>
          <p:cNvSpPr txBox="1"/>
          <p:nvPr/>
        </p:nvSpPr>
        <p:spPr>
          <a:xfrm>
            <a:off x="3327445" y="414396"/>
            <a:ext cx="669297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800"/>
              </a:lnSpc>
            </a:pPr>
            <a:r>
              <a:rPr lang="en-US" sz="4000" b="1" dirty="0">
                <a:solidFill>
                  <a:schemeClr val="bg1"/>
                </a:solidFill>
                <a:latin typeface="Public Sans" panose="020B0604020202020204"/>
                <a:ea typeface="Public Sans Bold"/>
                <a:cs typeface="Public Sans Bold"/>
                <a:sym typeface="Public Sans Bold"/>
              </a:rPr>
              <a:t>High-Level Architecture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484CDFC-07FD-16F1-E6ED-C8505A0AD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823" y="5407790"/>
            <a:ext cx="59736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Interaction Flow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ublic Sans" panose="020B0604020202020204"/>
              </a:rPr>
              <a:t>Scan → Validate → Sync → Display</a:t>
            </a:r>
            <a:endParaRPr kumimoji="0" lang="en-US" altLang="en-US" sz="2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52998" y="2263841"/>
            <a:ext cx="49586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u="sng" dirty="0">
                <a:solidFill>
                  <a:schemeClr val="bg1"/>
                </a:solidFill>
                <a:latin typeface="Public Sans" panose="020B0604020202020204"/>
              </a:rPr>
              <a:t>Controller Layer:</a:t>
            </a:r>
            <a:endParaRPr lang="en-US" altLang="en-US" sz="2000" u="sng" dirty="0">
              <a:solidFill>
                <a:schemeClr val="bg1"/>
              </a:solidFill>
              <a:latin typeface="Public Sans" panose="020B0604020202020204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Arduino (Core Logic)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ESP-01 (Wi-Fi Communication)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9037" y="3316207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u="sng" dirty="0">
                <a:solidFill>
                  <a:schemeClr val="bg1"/>
                </a:solidFill>
                <a:latin typeface="Public Sans" panose="020B0604020202020204"/>
              </a:rPr>
              <a:t>Connectivity Layer:</a:t>
            </a:r>
            <a:endParaRPr lang="en-US" altLang="en-US" sz="2000" u="sng" dirty="0">
              <a:solidFill>
                <a:schemeClr val="bg1"/>
              </a:solidFill>
              <a:latin typeface="Public Sans" panose="020B0604020202020204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REST APIs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Cloud Synchronization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2955" y="4286417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u="sng" dirty="0">
                <a:solidFill>
                  <a:schemeClr val="bg1"/>
                </a:solidFill>
                <a:latin typeface="Public Sans" panose="020B0604020202020204"/>
              </a:rPr>
              <a:t>Application Layer:</a:t>
            </a:r>
            <a:endParaRPr lang="en-US" altLang="en-US" sz="2000" u="sng" dirty="0">
              <a:solidFill>
                <a:schemeClr val="bg1"/>
              </a:solidFill>
              <a:latin typeface="Public Sans" panose="020B0604020202020204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Customer Mobile App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Admin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1789" y="1216883"/>
            <a:ext cx="595497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u="sng" dirty="0">
                <a:solidFill>
                  <a:schemeClr val="bg1"/>
                </a:solidFill>
                <a:latin typeface="Public Sans" panose="020B0604020202020204"/>
              </a:rPr>
              <a:t>Sensor Layer:</a:t>
            </a:r>
            <a:endParaRPr lang="en-US" altLang="en-US" sz="2000" u="sng" dirty="0">
              <a:solidFill>
                <a:schemeClr val="bg1"/>
              </a:solidFill>
              <a:latin typeface="Public Sans" panose="020B0604020202020204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NFC Reader + Load Cell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Public Sans" panose="020B0604020202020204"/>
              </a:rPr>
              <a:t>(Product Detection &amp; Weight Verification)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bg1"/>
              </a:solidFill>
              <a:latin typeface="Public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6249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256261"/>
            <a:ext cx="11498272" cy="6164272"/>
            <a:chOff x="0" y="0"/>
            <a:chExt cx="4542527" cy="243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440892" y="637579"/>
            <a:ext cx="5310216" cy="58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</a:pPr>
            <a:r>
              <a:rPr lang="en-US" sz="3600" b="1" dirty="0" smtClean="0">
                <a:solidFill>
                  <a:srgbClr val="F2F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Architecture Diagram</a:t>
            </a:r>
            <a:endParaRPr lang="en-US" sz="3600" b="1" dirty="0">
              <a:solidFill>
                <a:srgbClr val="F2F2F2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23" name="Freeform 8"/>
          <p:cNvSpPr/>
          <p:nvPr/>
        </p:nvSpPr>
        <p:spPr>
          <a:xfrm>
            <a:off x="11670858" y="628364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8"/>
          <p:cNvSpPr/>
          <p:nvPr/>
        </p:nvSpPr>
        <p:spPr>
          <a:xfrm>
            <a:off x="-50753" y="6225818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73" y="1211385"/>
            <a:ext cx="11374748" cy="460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82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864" y="346864"/>
            <a:ext cx="11498272" cy="6164272"/>
            <a:chOff x="0" y="0"/>
            <a:chExt cx="4542527" cy="243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-1079170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890615" y="451049"/>
            <a:ext cx="563313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</a:pPr>
            <a:r>
              <a:rPr lang="en-US" sz="4000" b="1" dirty="0">
                <a:solidFill>
                  <a:schemeClr val="bg1"/>
                </a:solidFill>
                <a:latin typeface="Public Sans" panose="020B0604020202020204"/>
                <a:ea typeface="Public Sans Bold"/>
                <a:cs typeface="Public Sans Bold"/>
                <a:sym typeface="Public Sans Bold"/>
              </a:rPr>
              <a:t>Mobile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BB4F8-814E-F10C-9C26-D215BE1C0CE3}"/>
              </a:ext>
            </a:extLst>
          </p:cNvPr>
          <p:cNvSpPr txBox="1"/>
          <p:nvPr/>
        </p:nvSpPr>
        <p:spPr>
          <a:xfrm>
            <a:off x="4945068" y="1883192"/>
            <a:ext cx="688437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b="1" dirty="0" smtClean="0">
                <a:solidFill>
                  <a:schemeClr val="bg1"/>
                </a:solidFill>
                <a:latin typeface="Public Sans" panose="020B0604020202020204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Public Sans" panose="020B0604020202020204"/>
              </a:rPr>
              <a:t>Built With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ublic Sans" panose="020B0604020202020204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Flutter (Cross-Platform Mobile App</a:t>
            </a:r>
            <a:r>
              <a:rPr lang="en-US" sz="2000" dirty="0" smtClean="0">
                <a:solidFill>
                  <a:schemeClr val="bg1"/>
                </a:solidFill>
                <a:latin typeface="Public Sans" panose="020B0604020202020204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bg1"/>
                </a:solidFill>
                <a:latin typeface="Public Sans" panose="020B0604020202020204"/>
              </a:rPr>
              <a:t>👥 User Roles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Customer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Auditor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Admin</a:t>
            </a:r>
          </a:p>
        </p:txBody>
      </p:sp>
    </p:spTree>
    <p:extLst>
      <p:ext uri="{BB962C8B-B14F-4D97-AF65-F5344CB8AC3E}">
        <p14:creationId xmlns:p14="http://schemas.microsoft.com/office/powerpoint/2010/main" val="3742777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864" y="336704"/>
            <a:ext cx="11498272" cy="6164272"/>
            <a:chOff x="0" y="0"/>
            <a:chExt cx="4542527" cy="243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-1079170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556000" y="846531"/>
            <a:ext cx="6683593" cy="1827598"/>
            <a:chOff x="-2746754" y="-19049"/>
            <a:chExt cx="13367187" cy="4111094"/>
          </a:xfrm>
        </p:grpSpPr>
        <p:sp>
          <p:nvSpPr>
            <p:cNvPr id="11" name="TextBox 11"/>
            <p:cNvSpPr txBox="1"/>
            <p:nvPr/>
          </p:nvSpPr>
          <p:spPr>
            <a:xfrm>
              <a:off x="-2746754" y="-19049"/>
              <a:ext cx="13367187" cy="13846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609630">
                <a:lnSpc>
                  <a:spcPts val="4800"/>
                </a:lnSpc>
              </a:pPr>
              <a:r>
                <a:rPr lang="en-US" sz="4000" b="1" dirty="0">
                  <a:solidFill>
                    <a:srgbClr val="F2F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- Customer Module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302933"/>
              <a:ext cx="10620433" cy="78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defTabSz="609630">
                <a:lnSpc>
                  <a:spcPts val="2987"/>
                </a:lnSpc>
                <a:buFont typeface="Arial" panose="020B0604020202020204" pitchFamily="34" charset="0"/>
                <a:buChar char="•"/>
              </a:pPr>
              <a:endParaRPr lang="en-US" sz="2133" dirty="0">
                <a:solidFill>
                  <a:srgbClr val="F2F2F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A4D29AA-2ABC-D305-F343-3782CEA94E2D}"/>
              </a:ext>
            </a:extLst>
          </p:cNvPr>
          <p:cNvSpPr txBox="1"/>
          <p:nvPr/>
        </p:nvSpPr>
        <p:spPr>
          <a:xfrm>
            <a:off x="5296844" y="2287237"/>
            <a:ext cx="4900709" cy="2814617"/>
          </a:xfrm>
          <a:prstGeom prst="rect">
            <a:avLst/>
          </a:prstGeom>
          <a:noFill/>
          <a:ln w="9525" cap="flat" cmpd="sng" algn="ctr">
            <a:solidFill>
              <a:srgbClr val="0064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QR-Based Cart Pairing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NFC Item Scanning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Barcode Scanning Support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Live Bill View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Product Details (Weight, Quantity, Price)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Real-Time Total Calculation</a:t>
            </a:r>
          </a:p>
        </p:txBody>
      </p:sp>
    </p:spTree>
    <p:extLst>
      <p:ext uri="{BB962C8B-B14F-4D97-AF65-F5344CB8AC3E}">
        <p14:creationId xmlns:p14="http://schemas.microsoft.com/office/powerpoint/2010/main" val="3680090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0B11A-91B6-227B-32DF-251E74C8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D355F2-4786-F509-8F89-D8714FDD12AE}"/>
              </a:ext>
            </a:extLst>
          </p:cNvPr>
          <p:cNvGrpSpPr/>
          <p:nvPr/>
        </p:nvGrpSpPr>
        <p:grpSpPr>
          <a:xfrm>
            <a:off x="346864" y="336704"/>
            <a:ext cx="11498272" cy="6164272"/>
            <a:chOff x="0" y="0"/>
            <a:chExt cx="4542527" cy="243526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CC3BB0-45B7-6036-3C9E-FA158888506C}"/>
                </a:ext>
              </a:extLst>
            </p:cNvPr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887E81F-1A3D-BE00-51DC-60C2F3BCE280}"/>
                </a:ext>
              </a:extLst>
            </p:cNvPr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6EBBBC4-2062-5DCD-3E22-2433E5DA34B9}"/>
              </a:ext>
            </a:extLst>
          </p:cNvPr>
          <p:cNvSpPr/>
          <p:nvPr/>
        </p:nvSpPr>
        <p:spPr>
          <a:xfrm>
            <a:off x="-1079170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773EF27-DFC8-B373-775D-741A55AB35A1}"/>
              </a:ext>
            </a:extLst>
          </p:cNvPr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7D2F237-096D-BEB3-2A9E-7D66B73055C7}"/>
              </a:ext>
            </a:extLst>
          </p:cNvPr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0268A0B-BEF1-9C6F-DB7A-B2779A4DD818}"/>
              </a:ext>
            </a:extLst>
          </p:cNvPr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1F3CF94-49AB-D2DF-2115-520C9C1BE6B5}"/>
              </a:ext>
            </a:extLst>
          </p:cNvPr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6566250-3AA4-85DF-717C-3C1A83332CEB}"/>
              </a:ext>
            </a:extLst>
          </p:cNvPr>
          <p:cNvGrpSpPr/>
          <p:nvPr/>
        </p:nvGrpSpPr>
        <p:grpSpPr>
          <a:xfrm>
            <a:off x="3556000" y="846531"/>
            <a:ext cx="6683593" cy="1827598"/>
            <a:chOff x="-2746754" y="-19049"/>
            <a:chExt cx="13367187" cy="4111094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D00AD0A-614C-3EE8-60BA-98F513A3E29D}"/>
                </a:ext>
              </a:extLst>
            </p:cNvPr>
            <p:cNvSpPr txBox="1"/>
            <p:nvPr/>
          </p:nvSpPr>
          <p:spPr>
            <a:xfrm>
              <a:off x="-2746754" y="-19049"/>
              <a:ext cx="13367187" cy="13846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609630">
                <a:lnSpc>
                  <a:spcPts val="4800"/>
                </a:lnSpc>
              </a:pPr>
              <a:r>
                <a:rPr lang="en-US" sz="4000" b="1" dirty="0">
                  <a:solidFill>
                    <a:srgbClr val="F2F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- Auditor Module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31F6B83-B091-7456-0860-37800B762118}"/>
                </a:ext>
              </a:extLst>
            </p:cNvPr>
            <p:cNvSpPr txBox="1"/>
            <p:nvPr/>
          </p:nvSpPr>
          <p:spPr>
            <a:xfrm>
              <a:off x="0" y="3302933"/>
              <a:ext cx="10620433" cy="78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defTabSz="609630">
                <a:lnSpc>
                  <a:spcPts val="2987"/>
                </a:lnSpc>
                <a:buFont typeface="Arial" panose="020B0604020202020204" pitchFamily="34" charset="0"/>
                <a:buChar char="•"/>
              </a:pPr>
              <a:endParaRPr lang="en-US" sz="2133" dirty="0">
                <a:solidFill>
                  <a:srgbClr val="F2F2F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061D12A-A3C2-DB5F-0E80-988D46DD07D0}"/>
              </a:ext>
            </a:extLst>
          </p:cNvPr>
          <p:cNvSpPr txBox="1"/>
          <p:nvPr/>
        </p:nvSpPr>
        <p:spPr>
          <a:xfrm>
            <a:off x="5296844" y="2014677"/>
            <a:ext cx="4900709" cy="2814617"/>
          </a:xfrm>
          <a:prstGeom prst="rect">
            <a:avLst/>
          </a:prstGeom>
          <a:noFill/>
          <a:ln w="9525" cap="flat" cmpd="sng" algn="ctr">
            <a:solidFill>
              <a:srgbClr val="0064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QR-Based Cart Access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Bill Generation &amp; Verification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Payment Trigger Authorization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Auditor Login Dashboard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Audit Count Tracking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Total Sales &amp; Customers Handled</a:t>
            </a:r>
          </a:p>
        </p:txBody>
      </p:sp>
    </p:spTree>
    <p:extLst>
      <p:ext uri="{BB962C8B-B14F-4D97-AF65-F5344CB8AC3E}">
        <p14:creationId xmlns:p14="http://schemas.microsoft.com/office/powerpoint/2010/main" val="2029668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F9ECB-4723-55CB-6A1D-630466CD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7E9C10-30D5-584E-D853-8A8F9B3D397B}"/>
              </a:ext>
            </a:extLst>
          </p:cNvPr>
          <p:cNvGrpSpPr/>
          <p:nvPr/>
        </p:nvGrpSpPr>
        <p:grpSpPr>
          <a:xfrm>
            <a:off x="346864" y="336704"/>
            <a:ext cx="11498272" cy="6164272"/>
            <a:chOff x="0" y="0"/>
            <a:chExt cx="4542527" cy="243526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B0E46E-D449-B570-BE81-95D0ED9542C7}"/>
                </a:ext>
              </a:extLst>
            </p:cNvPr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4E51ABD-AD06-D209-8BFE-95B47171FCC0}"/>
                </a:ext>
              </a:extLst>
            </p:cNvPr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740820E-2C2B-99C8-B0A1-93AD3C70BA8E}"/>
              </a:ext>
            </a:extLst>
          </p:cNvPr>
          <p:cNvSpPr/>
          <p:nvPr/>
        </p:nvSpPr>
        <p:spPr>
          <a:xfrm>
            <a:off x="-1079170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059EDC8-7231-25DA-DF16-641DFAAF14EB}"/>
              </a:ext>
            </a:extLst>
          </p:cNvPr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A54AB72-DA24-442E-22A8-C040C615734B}"/>
              </a:ext>
            </a:extLst>
          </p:cNvPr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8F7699C-DF84-3450-6030-495489744BB2}"/>
              </a:ext>
            </a:extLst>
          </p:cNvPr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915D309-BAA5-4D89-53BC-F4BA6A7DB728}"/>
              </a:ext>
            </a:extLst>
          </p:cNvPr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84A3EFA-84AE-7BF3-1222-B543E052EB85}"/>
              </a:ext>
            </a:extLst>
          </p:cNvPr>
          <p:cNvGrpSpPr/>
          <p:nvPr/>
        </p:nvGrpSpPr>
        <p:grpSpPr>
          <a:xfrm>
            <a:off x="3556000" y="846531"/>
            <a:ext cx="6683593" cy="1827598"/>
            <a:chOff x="-2746754" y="-19049"/>
            <a:chExt cx="13367187" cy="4111094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48F4147-9E78-5F48-7A6F-49A8B77900BD}"/>
                </a:ext>
              </a:extLst>
            </p:cNvPr>
            <p:cNvSpPr txBox="1"/>
            <p:nvPr/>
          </p:nvSpPr>
          <p:spPr>
            <a:xfrm>
              <a:off x="-2746754" y="-19049"/>
              <a:ext cx="13367187" cy="13846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609630">
                <a:lnSpc>
                  <a:spcPts val="4800"/>
                </a:lnSpc>
              </a:pPr>
              <a:r>
                <a:rPr lang="en-US" sz="4000" b="1" dirty="0">
                  <a:solidFill>
                    <a:srgbClr val="F2F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- Admin Module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DD98AD0-A4A0-CAAD-DC0E-5E233E4BA56A}"/>
                </a:ext>
              </a:extLst>
            </p:cNvPr>
            <p:cNvSpPr txBox="1"/>
            <p:nvPr/>
          </p:nvSpPr>
          <p:spPr>
            <a:xfrm>
              <a:off x="0" y="3302933"/>
              <a:ext cx="10620433" cy="78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defTabSz="609630">
                <a:lnSpc>
                  <a:spcPts val="2987"/>
                </a:lnSpc>
                <a:buFont typeface="Arial" panose="020B0604020202020204" pitchFamily="34" charset="0"/>
                <a:buChar char="•"/>
              </a:pPr>
              <a:endParaRPr lang="en-US" sz="2133" dirty="0">
                <a:solidFill>
                  <a:srgbClr val="F2F2F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061D12A-A3C2-DB5F-0E80-988D46DD07D0}"/>
              </a:ext>
            </a:extLst>
          </p:cNvPr>
          <p:cNvSpPr txBox="1"/>
          <p:nvPr/>
        </p:nvSpPr>
        <p:spPr>
          <a:xfrm>
            <a:off x="5296843" y="2014677"/>
            <a:ext cx="6368783" cy="2862322"/>
          </a:xfrm>
          <a:prstGeom prst="rect">
            <a:avLst/>
          </a:prstGeom>
          <a:noFill/>
          <a:ln w="9525" cap="flat" cmpd="sng" algn="ctr">
            <a:solidFill>
              <a:srgbClr val="0064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</a:t>
            </a:r>
            <a:r>
              <a:rPr lang="en-US" sz="2000" dirty="0" smtClean="0">
                <a:solidFill>
                  <a:schemeClr val="bg1"/>
                </a:solidFill>
                <a:latin typeface="Public Sans" panose="020B0604020202020204"/>
              </a:rPr>
              <a:t>User Management (Customers &amp; Auditors)</a:t>
            </a: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</a:t>
            </a:r>
            <a:r>
              <a:rPr lang="en-US" sz="2000" dirty="0" smtClean="0">
                <a:solidFill>
                  <a:schemeClr val="bg1"/>
                </a:solidFill>
                <a:latin typeface="Public Sans" panose="020B0604020202020204"/>
              </a:rPr>
              <a:t>Enable/Disable Specific Accounts</a:t>
            </a: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Public Sans" panose="020B0604020202020204"/>
              </a:rPr>
              <a:t>• Invoicing Monitoring &amp; Filtering (Day/Month/Year)</a:t>
            </a: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</a:t>
            </a:r>
            <a:r>
              <a:rPr lang="en-US" sz="2000" dirty="0" smtClean="0">
                <a:solidFill>
                  <a:schemeClr val="bg1"/>
                </a:solidFill>
                <a:latin typeface="Public Sans" panose="020B0604020202020204"/>
              </a:rPr>
              <a:t>Dashboard: Total Sales, Active Users, Daily Invoices</a:t>
            </a: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• </a:t>
            </a:r>
            <a:r>
              <a:rPr lang="en-US" sz="2000" dirty="0" smtClean="0">
                <a:solidFill>
                  <a:schemeClr val="bg1"/>
                </a:solidFill>
                <a:latin typeface="Public Sans" panose="020B0604020202020204"/>
              </a:rPr>
              <a:t>Inventory &amp; Profit/Loss Analytics (Graph Based)</a:t>
            </a: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Public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6230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256261"/>
            <a:ext cx="11498272" cy="6164272"/>
            <a:chOff x="0" y="0"/>
            <a:chExt cx="4542527" cy="243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440892" y="637579"/>
            <a:ext cx="5310216" cy="58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</a:pPr>
            <a:r>
              <a:rPr lang="en-US" sz="3600" b="1" dirty="0">
                <a:solidFill>
                  <a:srgbClr val="F2F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Mobile Application Demo</a:t>
            </a:r>
          </a:p>
        </p:txBody>
      </p:sp>
      <p:sp>
        <p:nvSpPr>
          <p:cNvPr id="23" name="Freeform 8"/>
          <p:cNvSpPr/>
          <p:nvPr/>
        </p:nvSpPr>
        <p:spPr>
          <a:xfrm>
            <a:off x="11670858" y="628364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8"/>
          <p:cNvSpPr/>
          <p:nvPr/>
        </p:nvSpPr>
        <p:spPr>
          <a:xfrm>
            <a:off x="-50753" y="6225818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19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256261"/>
            <a:ext cx="11498272" cy="6164272"/>
            <a:chOff x="0" y="0"/>
            <a:chExt cx="4542527" cy="243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440892" y="444539"/>
            <a:ext cx="5310216" cy="56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</a:pPr>
            <a:r>
              <a:rPr lang="en-US" sz="3600" b="1" dirty="0" smtClean="0">
                <a:solidFill>
                  <a:srgbClr val="F2F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CIRCUIT DIAGRAM </a:t>
            </a:r>
            <a:endParaRPr lang="en-US" sz="3600" b="1" dirty="0">
              <a:solidFill>
                <a:srgbClr val="F2F2F2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23" name="Freeform 8"/>
          <p:cNvSpPr/>
          <p:nvPr/>
        </p:nvSpPr>
        <p:spPr>
          <a:xfrm>
            <a:off x="11670858" y="628364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8"/>
          <p:cNvSpPr/>
          <p:nvPr/>
        </p:nvSpPr>
        <p:spPr>
          <a:xfrm>
            <a:off x="-50753" y="6225818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671" y="1061493"/>
            <a:ext cx="8504657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00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076E9-1EFA-020D-ED82-C5A356A9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915EBA-7FD4-4403-C6BB-1510588C48B8}"/>
              </a:ext>
            </a:extLst>
          </p:cNvPr>
          <p:cNvGrpSpPr/>
          <p:nvPr/>
        </p:nvGrpSpPr>
        <p:grpSpPr>
          <a:xfrm>
            <a:off x="346864" y="346864"/>
            <a:ext cx="11498272" cy="6164272"/>
            <a:chOff x="0" y="0"/>
            <a:chExt cx="4542527" cy="243526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B05868-9502-A802-613C-E401911F6D36}"/>
                </a:ext>
              </a:extLst>
            </p:cNvPr>
            <p:cNvSpPr/>
            <p:nvPr/>
          </p:nvSpPr>
          <p:spPr>
            <a:xfrm>
              <a:off x="0" y="0"/>
              <a:ext cx="4542527" cy="2435268"/>
            </a:xfrm>
            <a:custGeom>
              <a:avLst/>
              <a:gdLst/>
              <a:ahLst/>
              <a:cxnLst/>
              <a:rect l="l" t="t" r="r" b="b"/>
              <a:pathLst>
                <a:path w="4542527" h="2435268">
                  <a:moveTo>
                    <a:pt x="0" y="0"/>
                  </a:moveTo>
                  <a:lnTo>
                    <a:pt x="4542527" y="0"/>
                  </a:lnTo>
                  <a:lnTo>
                    <a:pt x="4542527" y="2435268"/>
                  </a:lnTo>
                  <a:lnTo>
                    <a:pt x="0" y="2435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E3B2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13FD5A8-CAAF-FE1F-7B8F-63904CF4EA6D}"/>
                </a:ext>
              </a:extLst>
            </p:cNvPr>
            <p:cNvSpPr txBox="1"/>
            <p:nvPr/>
          </p:nvSpPr>
          <p:spPr>
            <a:xfrm>
              <a:off x="0" y="-57150"/>
              <a:ext cx="4542527" cy="24924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6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EABA1E8-5041-9009-8F08-93CD5F34200A}"/>
              </a:ext>
            </a:extLst>
          </p:cNvPr>
          <p:cNvSpPr/>
          <p:nvPr/>
        </p:nvSpPr>
        <p:spPr>
          <a:xfrm>
            <a:off x="-1079170" y="1352111"/>
            <a:ext cx="6008547" cy="4583511"/>
          </a:xfrm>
          <a:custGeom>
            <a:avLst/>
            <a:gdLst/>
            <a:ahLst/>
            <a:cxnLst/>
            <a:rect l="l" t="t" r="r" b="b"/>
            <a:pathLst>
              <a:path w="9012820" h="6875266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AE70A0-4CF4-7705-E387-BD2FBFFFF084}"/>
              </a:ext>
            </a:extLst>
          </p:cNvPr>
          <p:cNvSpPr/>
          <p:nvPr/>
        </p:nvSpPr>
        <p:spPr>
          <a:xfrm>
            <a:off x="8171736" y="630893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B95F098-426A-159A-E940-87E862B7C898}"/>
              </a:ext>
            </a:extLst>
          </p:cNvPr>
          <p:cNvSpPr/>
          <p:nvPr/>
        </p:nvSpPr>
        <p:spPr>
          <a:xfrm>
            <a:off x="1578239" y="-346864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D2DB173-1F37-244D-F3E9-5E078C521A94}"/>
              </a:ext>
            </a:extLst>
          </p:cNvPr>
          <p:cNvSpPr/>
          <p:nvPr/>
        </p:nvSpPr>
        <p:spPr>
          <a:xfrm>
            <a:off x="11845136" y="1066602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4590CF3-39C0-4DBC-6BA4-64A19160902A}"/>
              </a:ext>
            </a:extLst>
          </p:cNvPr>
          <p:cNvSpPr/>
          <p:nvPr/>
        </p:nvSpPr>
        <p:spPr>
          <a:xfrm>
            <a:off x="2980582" y="4750806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2" y="0"/>
                </a:lnTo>
                <a:lnTo>
                  <a:pt x="1040592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83B5156-9A90-2914-9FEE-6D193ACC3162}"/>
              </a:ext>
            </a:extLst>
          </p:cNvPr>
          <p:cNvGrpSpPr/>
          <p:nvPr/>
        </p:nvGrpSpPr>
        <p:grpSpPr>
          <a:xfrm>
            <a:off x="3556000" y="846531"/>
            <a:ext cx="6683593" cy="1827598"/>
            <a:chOff x="-2746754" y="-19049"/>
            <a:chExt cx="13367187" cy="4111094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FB8AF1E-69E1-3666-E0CD-0AF2D1595643}"/>
                </a:ext>
              </a:extLst>
            </p:cNvPr>
            <p:cNvSpPr txBox="1"/>
            <p:nvPr/>
          </p:nvSpPr>
          <p:spPr>
            <a:xfrm>
              <a:off x="-2746754" y="-19049"/>
              <a:ext cx="13367187" cy="13846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609630">
                <a:lnSpc>
                  <a:spcPts val="4800"/>
                </a:lnSpc>
              </a:pPr>
              <a:r>
                <a:rPr lang="en-US" sz="4000" b="1" dirty="0">
                  <a:solidFill>
                    <a:srgbClr val="F2F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Future Enhancements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BB1B596-AF1E-FC4B-1B5F-8431E761EF22}"/>
                </a:ext>
              </a:extLst>
            </p:cNvPr>
            <p:cNvSpPr txBox="1"/>
            <p:nvPr/>
          </p:nvSpPr>
          <p:spPr>
            <a:xfrm>
              <a:off x="0" y="3302933"/>
              <a:ext cx="10620433" cy="78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defTabSz="609630">
                <a:lnSpc>
                  <a:spcPts val="2987"/>
                </a:lnSpc>
                <a:buFont typeface="Arial" panose="020B0604020202020204" pitchFamily="34" charset="0"/>
                <a:buChar char="•"/>
              </a:pPr>
              <a:endParaRPr lang="en-US" sz="2133" dirty="0">
                <a:solidFill>
                  <a:srgbClr val="F2F2F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34D48B2-E4F7-4AC7-FFCC-492C4D397194}"/>
              </a:ext>
            </a:extLst>
          </p:cNvPr>
          <p:cNvSpPr txBox="1"/>
          <p:nvPr/>
        </p:nvSpPr>
        <p:spPr>
          <a:xfrm>
            <a:off x="5382983" y="1894796"/>
            <a:ext cx="6008547" cy="3922612"/>
          </a:xfrm>
          <a:prstGeom prst="rect">
            <a:avLst/>
          </a:prstGeom>
          <a:noFill/>
          <a:ln w="9525" cap="flat" cmpd="sng" algn="ctr">
            <a:solidFill>
              <a:srgbClr val="0064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bg1"/>
                </a:solidFill>
                <a:latin typeface="Public Sans" panose="020B0604020202020204"/>
              </a:rPr>
              <a:t>• POS Integration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Direct billing integration with store counters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bg1"/>
                </a:solidFill>
                <a:latin typeface="Public Sans" panose="020B0604020202020204"/>
              </a:rPr>
              <a:t>• Payment Gateway Integration </a:t>
            </a:r>
            <a:endParaRPr lang="en-US" sz="2000" b="1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Support for cash, card, digital payments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bg1"/>
                </a:solidFill>
                <a:latin typeface="Public Sans" panose="020B0604020202020204"/>
              </a:rPr>
              <a:t>• AI-Based Anti-Theft Monitoring </a:t>
            </a:r>
            <a:endParaRPr lang="en-US" sz="2000" b="1" dirty="0">
              <a:solidFill>
                <a:schemeClr val="bg1"/>
              </a:solidFill>
              <a:latin typeface="Public Sans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Camera-based suspicious activity detection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bg1"/>
                </a:solidFill>
                <a:latin typeface="Public Sans" panose="020B0604020202020204"/>
              </a:rPr>
              <a:t>• Customer Loyalty &amp; Reward System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ublic Sans" panose="020B0604020202020204"/>
              </a:rPr>
              <a:t>Points based rewards for repeat customers.</a:t>
            </a:r>
          </a:p>
        </p:txBody>
      </p:sp>
    </p:spTree>
    <p:extLst>
      <p:ext uri="{BB962C8B-B14F-4D97-AF65-F5344CB8AC3E}">
        <p14:creationId xmlns:p14="http://schemas.microsoft.com/office/powerpoint/2010/main" val="1985666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F1B4B-E07D-7D33-E914-C1CAA8B6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50C8CA2-36C7-94FB-FE56-874A87ABCA71}"/>
              </a:ext>
            </a:extLst>
          </p:cNvPr>
          <p:cNvGrpSpPr/>
          <p:nvPr/>
        </p:nvGrpSpPr>
        <p:grpSpPr>
          <a:xfrm>
            <a:off x="685800" y="1142447"/>
            <a:ext cx="8521044" cy="2096864"/>
            <a:chOff x="0" y="-95250"/>
            <a:chExt cx="17042088" cy="4193730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516247B5-3E79-4712-0676-345FACC79A35}"/>
                </a:ext>
              </a:extLst>
            </p:cNvPr>
            <p:cNvSpPr txBox="1"/>
            <p:nvPr/>
          </p:nvSpPr>
          <p:spPr>
            <a:xfrm>
              <a:off x="0" y="1997261"/>
              <a:ext cx="17042088" cy="2101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8580"/>
                </a:lnSpc>
              </a:pPr>
              <a:r>
                <a:rPr lang="en-US" sz="6600" dirty="0">
                  <a:solidFill>
                    <a:schemeClr val="bg1"/>
                  </a:solidFill>
                  <a:latin typeface="Public Sans Thin"/>
                  <a:ea typeface="Public Sans Thin"/>
                  <a:cs typeface="Public Sans Thin"/>
                  <a:sym typeface="Public Sans Thin"/>
                </a:rPr>
                <a:t>Thankyou, Questions?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FFE908-38D6-E34A-81D4-D475CE28FC52}"/>
                </a:ext>
              </a:extLst>
            </p:cNvPr>
            <p:cNvSpPr txBox="1"/>
            <p:nvPr/>
          </p:nvSpPr>
          <p:spPr>
            <a:xfrm>
              <a:off x="0" y="-95250"/>
              <a:ext cx="12920074" cy="1102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4293"/>
                </a:lnSpc>
                <a:spcBef>
                  <a:spcPct val="0"/>
                </a:spcBef>
              </a:pPr>
              <a:r>
                <a:rPr lang="en-US" sz="3066" b="1" dirty="0">
                  <a:solidFill>
                    <a:srgbClr val="FEFFF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SMARTSAUDA</a:t>
              </a:r>
            </a:p>
          </p:txBody>
        </p:sp>
      </p:grpSp>
      <p:sp>
        <p:nvSpPr>
          <p:cNvPr id="7" name="Freeform 5">
            <a:extLst>
              <a:ext uri="{FF2B5EF4-FFF2-40B4-BE49-F238E27FC236}">
                <a16:creationId xmlns:a16="http://schemas.microsoft.com/office/drawing/2014/main" id="{C3B26099-5F8D-D6BD-414B-F3B19F127F6B}"/>
              </a:ext>
            </a:extLst>
          </p:cNvPr>
          <p:cNvSpPr/>
          <p:nvPr/>
        </p:nvSpPr>
        <p:spPr>
          <a:xfrm>
            <a:off x="11111347" y="228231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40910BA-ACE9-D02F-1511-DDE1FD712152}"/>
              </a:ext>
            </a:extLst>
          </p:cNvPr>
          <p:cNvSpPr/>
          <p:nvPr/>
        </p:nvSpPr>
        <p:spPr>
          <a:xfrm>
            <a:off x="4397121" y="357627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C8CC43F-56F3-C2C8-79F6-A8596CC85FB0}"/>
              </a:ext>
            </a:extLst>
          </p:cNvPr>
          <p:cNvSpPr/>
          <p:nvPr/>
        </p:nvSpPr>
        <p:spPr>
          <a:xfrm>
            <a:off x="8510005" y="3852283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8770185-C11B-D217-9138-10F929D456F3}"/>
              </a:ext>
            </a:extLst>
          </p:cNvPr>
          <p:cNvSpPr/>
          <p:nvPr/>
        </p:nvSpPr>
        <p:spPr>
          <a:xfrm>
            <a:off x="186473" y="5650411"/>
            <a:ext cx="693728" cy="693728"/>
          </a:xfrm>
          <a:custGeom>
            <a:avLst/>
            <a:gdLst/>
            <a:ahLst/>
            <a:cxnLst/>
            <a:rect l="l" t="t" r="r" b="b"/>
            <a:pathLst>
              <a:path w="1040592" h="1040592">
                <a:moveTo>
                  <a:pt x="0" y="0"/>
                </a:moveTo>
                <a:lnTo>
                  <a:pt x="1040593" y="0"/>
                </a:lnTo>
                <a:lnTo>
                  <a:pt x="1040593" y="1040592"/>
                </a:lnTo>
                <a:lnTo>
                  <a:pt x="0" y="104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00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1903</TotalTime>
  <Words>360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Courier New</vt:lpstr>
      <vt:lpstr>Public Sans</vt:lpstr>
      <vt:lpstr>Public Sans Bold</vt:lpstr>
      <vt:lpstr>Public Sans Thin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Aiyan Sheryar</dc:creator>
  <cp:lastModifiedBy>Aiyan Sheryar</cp:lastModifiedBy>
  <cp:revision>31</cp:revision>
  <dcterms:created xsi:type="dcterms:W3CDTF">2025-10-13T17:19:49Z</dcterms:created>
  <dcterms:modified xsi:type="dcterms:W3CDTF">2026-04-21T08:24:47Z</dcterms:modified>
</cp:coreProperties>
</file>